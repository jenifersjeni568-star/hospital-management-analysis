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grandir" panose="020B0604020202020204" charset="0"/>
      <p:regular r:id="rId22"/>
    </p:embeddedFont>
    <p:embeddedFont>
      <p:font typeface="Agrandir Bold" panose="020B0604020202020204" charset="0"/>
      <p:regular r:id="rId23"/>
    </p:embeddedFont>
    <p:embeddedFont>
      <p:font typeface="Agrandir Medium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Canva Sans Italics" panose="020B0604020202020204" charset="0"/>
      <p:regular r:id="rId26"/>
    </p:embeddedFont>
    <p:embeddedFont>
      <p:font typeface="Poppins" panose="020B0502040204020203" pitchFamily="2" charset="0"/>
      <p:regular r:id="rId27"/>
    </p:embeddedFont>
    <p:embeddedFont>
      <p:font typeface="Poppins Bold" panose="020B0604020202020204" charset="0"/>
      <p:regular r:id="rId28"/>
    </p:embeddedFont>
    <p:embeddedFont>
      <p:font typeface="Poppins Bold Italics" panose="020B0604020202020204" charset="0"/>
      <p:regular r:id="rId29"/>
    </p:embeddedFont>
    <p:embeddedFont>
      <p:font typeface="Poppins Italics" panose="020B0604020202020204" charset="0"/>
      <p:regular r:id="rId30"/>
    </p:embeddedFont>
    <p:embeddedFont>
      <p:font typeface="Poppins Medium" panose="020B0502040204020203" pitchFamily="2" charset="0"/>
      <p:regular r:id="rId31"/>
    </p:embeddedFont>
    <p:embeddedFont>
      <p:font typeface="Rubik Dirt" panose="020B0604020202020204" charset="-79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3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nifersjeni568-star/Hospital-Management-Analysis/tree/main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11877" y="0"/>
            <a:ext cx="3753580" cy="10287000"/>
            <a:chOff x="0" y="0"/>
            <a:chExt cx="98859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8597" cy="2709333"/>
            </a:xfrm>
            <a:custGeom>
              <a:avLst/>
              <a:gdLst/>
              <a:ahLst/>
              <a:cxnLst/>
              <a:rect l="l" t="t" r="r" b="b"/>
              <a:pathLst>
                <a:path w="988597" h="2709333">
                  <a:moveTo>
                    <a:pt x="105190" y="0"/>
                  </a:moveTo>
                  <a:lnTo>
                    <a:pt x="883408" y="0"/>
                  </a:lnTo>
                  <a:cubicBezTo>
                    <a:pt x="941502" y="0"/>
                    <a:pt x="988597" y="47095"/>
                    <a:pt x="988597" y="105190"/>
                  </a:cubicBezTo>
                  <a:lnTo>
                    <a:pt x="988597" y="2604144"/>
                  </a:lnTo>
                  <a:cubicBezTo>
                    <a:pt x="988597" y="2662238"/>
                    <a:pt x="941502" y="2709333"/>
                    <a:pt x="883408" y="2709333"/>
                  </a:cubicBezTo>
                  <a:lnTo>
                    <a:pt x="105190" y="2709333"/>
                  </a:lnTo>
                  <a:cubicBezTo>
                    <a:pt x="47095" y="2709333"/>
                    <a:pt x="0" y="2662238"/>
                    <a:pt x="0" y="2604144"/>
                  </a:cubicBezTo>
                  <a:lnTo>
                    <a:pt x="0" y="105190"/>
                  </a:lnTo>
                  <a:cubicBezTo>
                    <a:pt x="0" y="47095"/>
                    <a:pt x="47095" y="0"/>
                    <a:pt x="1051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8859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22980" y="8564277"/>
            <a:ext cx="637019" cy="637019"/>
          </a:xfrm>
          <a:custGeom>
            <a:avLst/>
            <a:gdLst/>
            <a:ahLst/>
            <a:cxnLst/>
            <a:rect l="l" t="t" r="r" b="b"/>
            <a:pathLst>
              <a:path w="637019" h="637019">
                <a:moveTo>
                  <a:pt x="0" y="0"/>
                </a:moveTo>
                <a:lnTo>
                  <a:pt x="637019" y="0"/>
                </a:lnTo>
                <a:lnTo>
                  <a:pt x="637019" y="637018"/>
                </a:lnTo>
                <a:lnTo>
                  <a:pt x="0" y="637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92674" y="8547388"/>
            <a:ext cx="790881" cy="637019"/>
          </a:xfrm>
          <a:custGeom>
            <a:avLst/>
            <a:gdLst/>
            <a:ahLst/>
            <a:cxnLst/>
            <a:rect l="l" t="t" r="r" b="b"/>
            <a:pathLst>
              <a:path w="790881" h="637019">
                <a:moveTo>
                  <a:pt x="0" y="0"/>
                </a:moveTo>
                <a:lnTo>
                  <a:pt x="790882" y="0"/>
                </a:lnTo>
                <a:lnTo>
                  <a:pt x="790882" y="637019"/>
                </a:lnTo>
                <a:lnTo>
                  <a:pt x="0" y="637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2192" y="3101643"/>
            <a:ext cx="3979182" cy="5248321"/>
          </a:xfrm>
          <a:custGeom>
            <a:avLst/>
            <a:gdLst/>
            <a:ahLst/>
            <a:cxnLst/>
            <a:rect l="l" t="t" r="r" b="b"/>
            <a:pathLst>
              <a:path w="3979182" h="5248321">
                <a:moveTo>
                  <a:pt x="0" y="0"/>
                </a:moveTo>
                <a:lnTo>
                  <a:pt x="3979182" y="0"/>
                </a:lnTo>
                <a:lnTo>
                  <a:pt x="3979182" y="5248321"/>
                </a:lnTo>
                <a:lnTo>
                  <a:pt x="0" y="5248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922980" y="1825146"/>
            <a:ext cx="2534787" cy="1783568"/>
          </a:xfrm>
          <a:custGeom>
            <a:avLst/>
            <a:gdLst/>
            <a:ahLst/>
            <a:cxnLst/>
            <a:rect l="l" t="t" r="r" b="b"/>
            <a:pathLst>
              <a:path w="2534787" h="1783568">
                <a:moveTo>
                  <a:pt x="0" y="0"/>
                </a:moveTo>
                <a:lnTo>
                  <a:pt x="2534786" y="0"/>
                </a:lnTo>
                <a:lnTo>
                  <a:pt x="2534786" y="1783568"/>
                </a:lnTo>
                <a:lnTo>
                  <a:pt x="0" y="1783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34993" y="3672472"/>
            <a:ext cx="7763442" cy="321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15"/>
              </a:lnSpc>
            </a:pPr>
            <a:r>
              <a:rPr lang="en-US" sz="7373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HOSPITAL MANAGEMENT</a:t>
            </a:r>
          </a:p>
          <a:p>
            <a:pPr algn="l">
              <a:lnSpc>
                <a:spcPts val="7815"/>
              </a:lnSpc>
            </a:pPr>
            <a:r>
              <a:rPr lang="en-US" sz="7373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ANALYSIS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4993" y="6810314"/>
            <a:ext cx="10138680" cy="53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Transforming Hospital Data into Meaningful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46260" y="8948926"/>
            <a:ext cx="2072113" cy="26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JENIFER.S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46260" y="8582039"/>
            <a:ext cx="2344485" cy="3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8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PRESENTED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74056" y="8844686"/>
            <a:ext cx="3112592" cy="26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HOSPITAL DATA ANALYTICS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72283" y="8525035"/>
            <a:ext cx="2344485" cy="318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8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DOMAIN: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95729" y="5920953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2595729" y="6620602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595729" y="7316130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2595729" y="8060556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451703" y="5894444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451703" y="6594093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451703" y="7289621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451703" y="8034047"/>
            <a:ext cx="5947163" cy="0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814066" y="5345535"/>
            <a:ext cx="605226" cy="60522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14066" y="6031583"/>
            <a:ext cx="605226" cy="60522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14066" y="6740713"/>
            <a:ext cx="605226" cy="60522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14066" y="7426761"/>
            <a:ext cx="605226" cy="60522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04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72410" y="5347596"/>
            <a:ext cx="605226" cy="60522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72410" y="6033644"/>
            <a:ext cx="605226" cy="60522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72410" y="6742773"/>
            <a:ext cx="605226" cy="60522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72410" y="7428821"/>
            <a:ext cx="605226" cy="60522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88900" y="41275"/>
              <a:ext cx="635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r>
                <a:rPr lang="en-US" sz="1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08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-1862503" y="-848011"/>
            <a:ext cx="3979182" cy="5248321"/>
          </a:xfrm>
          <a:custGeom>
            <a:avLst/>
            <a:gdLst/>
            <a:ahLst/>
            <a:cxnLst/>
            <a:rect l="l" t="t" r="r" b="b"/>
            <a:pathLst>
              <a:path w="3979182" h="5248321">
                <a:moveTo>
                  <a:pt x="0" y="0"/>
                </a:moveTo>
                <a:lnTo>
                  <a:pt x="3979182" y="0"/>
                </a:lnTo>
                <a:lnTo>
                  <a:pt x="3979182" y="5248321"/>
                </a:lnTo>
                <a:lnTo>
                  <a:pt x="0" y="5248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28700" y="2045754"/>
            <a:ext cx="16732168" cy="150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31"/>
              </a:lnSpc>
            </a:pPr>
            <a:r>
              <a:rPr lang="en-US" sz="8991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OUR PROJECT JOURNEY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70143" y="5359416"/>
            <a:ext cx="5947163" cy="75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458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INTRODUCTION</a:t>
            </a:r>
          </a:p>
          <a:p>
            <a:pPr algn="l">
              <a:lnSpc>
                <a:spcPts val="2901"/>
              </a:lnSpc>
              <a:spcBef>
                <a:spcPct val="0"/>
              </a:spcBef>
            </a:pPr>
            <a:endParaRPr lang="en-US" sz="2458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670143" y="6054944"/>
            <a:ext cx="5947163" cy="76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THIS PROJECT?</a:t>
            </a:r>
          </a:p>
          <a:p>
            <a:pPr algn="l">
              <a:lnSpc>
                <a:spcPts val="2901"/>
              </a:lnSpc>
              <a:spcBef>
                <a:spcPct val="0"/>
              </a:spcBef>
            </a:pPr>
            <a:endParaRPr lang="en-US" sz="24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670143" y="6750473"/>
            <a:ext cx="5947163" cy="76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</a:p>
          <a:p>
            <a:pPr algn="l">
              <a:lnSpc>
                <a:spcPts val="2901"/>
              </a:lnSpc>
              <a:spcBef>
                <a:spcPct val="0"/>
              </a:spcBef>
            </a:pPr>
            <a:endParaRPr lang="en-US" sz="24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670143" y="7446001"/>
            <a:ext cx="5947163" cy="76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458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ANALYSIS PROCESS</a:t>
            </a:r>
          </a:p>
          <a:p>
            <a:pPr algn="l">
              <a:lnSpc>
                <a:spcPts val="2901"/>
              </a:lnSpc>
              <a:spcBef>
                <a:spcPct val="0"/>
              </a:spcBef>
            </a:pPr>
            <a:endParaRPr lang="en-US" sz="2458" b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451703" y="6054944"/>
            <a:ext cx="5947163" cy="39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LOGIC &amp; VALIDATION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51703" y="6728064"/>
            <a:ext cx="5947163" cy="39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DASHBOARD OVERVIEW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51703" y="5311770"/>
            <a:ext cx="5947163" cy="39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TECHNOLOGY BEHIND IT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526771" y="7446001"/>
            <a:ext cx="5621503" cy="39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FINDINGS</a:t>
            </a:r>
          </a:p>
        </p:txBody>
      </p:sp>
      <p:sp>
        <p:nvSpPr>
          <p:cNvPr id="44" name="Freeform 44"/>
          <p:cNvSpPr/>
          <p:nvPr/>
        </p:nvSpPr>
        <p:spPr>
          <a:xfrm>
            <a:off x="16148274" y="5834605"/>
            <a:ext cx="3979182" cy="5248321"/>
          </a:xfrm>
          <a:custGeom>
            <a:avLst/>
            <a:gdLst/>
            <a:ahLst/>
            <a:cxnLst/>
            <a:rect l="l" t="t" r="r" b="b"/>
            <a:pathLst>
              <a:path w="3979182" h="5248321">
                <a:moveTo>
                  <a:pt x="0" y="0"/>
                </a:moveTo>
                <a:lnTo>
                  <a:pt x="3979182" y="0"/>
                </a:lnTo>
                <a:lnTo>
                  <a:pt x="3979182" y="5248321"/>
                </a:lnTo>
                <a:lnTo>
                  <a:pt x="0" y="5248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5182456" y="3834351"/>
            <a:ext cx="7899916" cy="740490"/>
            <a:chOff x="0" y="0"/>
            <a:chExt cx="2080636" cy="19502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80636" cy="195026"/>
            </a:xfrm>
            <a:custGeom>
              <a:avLst/>
              <a:gdLst/>
              <a:ahLst/>
              <a:cxnLst/>
              <a:rect l="l" t="t" r="r" b="b"/>
              <a:pathLst>
                <a:path w="2080636" h="195026">
                  <a:moveTo>
                    <a:pt x="49980" y="0"/>
                  </a:moveTo>
                  <a:lnTo>
                    <a:pt x="2030656" y="0"/>
                  </a:lnTo>
                  <a:cubicBezTo>
                    <a:pt x="2058259" y="0"/>
                    <a:pt x="2080636" y="22377"/>
                    <a:pt x="2080636" y="49980"/>
                  </a:cubicBezTo>
                  <a:lnTo>
                    <a:pt x="2080636" y="145046"/>
                  </a:lnTo>
                  <a:cubicBezTo>
                    <a:pt x="2080636" y="172649"/>
                    <a:pt x="2058259" y="195026"/>
                    <a:pt x="2030656" y="195026"/>
                  </a:cubicBezTo>
                  <a:lnTo>
                    <a:pt x="49980" y="195026"/>
                  </a:lnTo>
                  <a:cubicBezTo>
                    <a:pt x="36724" y="195026"/>
                    <a:pt x="24012" y="189760"/>
                    <a:pt x="14639" y="180387"/>
                  </a:cubicBezTo>
                  <a:cubicBezTo>
                    <a:pt x="5266" y="171014"/>
                    <a:pt x="0" y="158302"/>
                    <a:pt x="0" y="145046"/>
                  </a:cubicBezTo>
                  <a:lnTo>
                    <a:pt x="0" y="49980"/>
                  </a:lnTo>
                  <a:cubicBezTo>
                    <a:pt x="0" y="36724"/>
                    <a:pt x="5266" y="24012"/>
                    <a:pt x="14639" y="14639"/>
                  </a:cubicBezTo>
                  <a:cubicBezTo>
                    <a:pt x="24012" y="5266"/>
                    <a:pt x="36724" y="0"/>
                    <a:pt x="499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080636" cy="23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3607312" y="3991923"/>
            <a:ext cx="11073376" cy="39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  <a:spcBef>
                <a:spcPct val="0"/>
              </a:spcBef>
            </a:pPr>
            <a:r>
              <a:rPr lang="en-US" sz="2458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From Hospital Data to Meaningful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16160" y="5454681"/>
            <a:ext cx="3979182" cy="5248321"/>
          </a:xfrm>
          <a:custGeom>
            <a:avLst/>
            <a:gdLst/>
            <a:ahLst/>
            <a:cxnLst/>
            <a:rect l="l" t="t" r="r" b="b"/>
            <a:pathLst>
              <a:path w="3979182" h="5248321">
                <a:moveTo>
                  <a:pt x="0" y="0"/>
                </a:moveTo>
                <a:lnTo>
                  <a:pt x="3979182" y="0"/>
                </a:lnTo>
                <a:lnTo>
                  <a:pt x="3979182" y="5248322"/>
                </a:lnTo>
                <a:lnTo>
                  <a:pt x="0" y="5248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28842" y="2016062"/>
            <a:ext cx="9885034" cy="119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sz="7149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INTRODUCTION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6298409" y="-245221"/>
            <a:ext cx="3979182" cy="5248321"/>
          </a:xfrm>
          <a:custGeom>
            <a:avLst/>
            <a:gdLst/>
            <a:ahLst/>
            <a:cxnLst/>
            <a:rect l="l" t="t" r="r" b="b"/>
            <a:pathLst>
              <a:path w="3979182" h="5248321">
                <a:moveTo>
                  <a:pt x="0" y="0"/>
                </a:moveTo>
                <a:lnTo>
                  <a:pt x="3979182" y="0"/>
                </a:lnTo>
                <a:lnTo>
                  <a:pt x="3979182" y="5248322"/>
                </a:lnTo>
                <a:lnTo>
                  <a:pt x="0" y="5248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28842" y="3464101"/>
            <a:ext cx="11480499" cy="1059159"/>
            <a:chOff x="0" y="0"/>
            <a:chExt cx="3023670" cy="2789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23670" cy="278955"/>
            </a:xfrm>
            <a:custGeom>
              <a:avLst/>
              <a:gdLst/>
              <a:ahLst/>
              <a:cxnLst/>
              <a:rect l="l" t="t" r="r" b="b"/>
              <a:pathLst>
                <a:path w="3023670" h="278955">
                  <a:moveTo>
                    <a:pt x="34392" y="0"/>
                  </a:moveTo>
                  <a:lnTo>
                    <a:pt x="2989278" y="0"/>
                  </a:lnTo>
                  <a:cubicBezTo>
                    <a:pt x="3008273" y="0"/>
                    <a:pt x="3023670" y="15398"/>
                    <a:pt x="3023670" y="34392"/>
                  </a:cubicBezTo>
                  <a:lnTo>
                    <a:pt x="3023670" y="244563"/>
                  </a:lnTo>
                  <a:cubicBezTo>
                    <a:pt x="3023670" y="253685"/>
                    <a:pt x="3020047" y="262432"/>
                    <a:pt x="3013597" y="268882"/>
                  </a:cubicBezTo>
                  <a:cubicBezTo>
                    <a:pt x="3007147" y="275332"/>
                    <a:pt x="2998400" y="278955"/>
                    <a:pt x="2989278" y="278955"/>
                  </a:cubicBezTo>
                  <a:lnTo>
                    <a:pt x="34392" y="278955"/>
                  </a:lnTo>
                  <a:cubicBezTo>
                    <a:pt x="15398" y="278955"/>
                    <a:pt x="0" y="263558"/>
                    <a:pt x="0" y="244563"/>
                  </a:cubicBezTo>
                  <a:lnTo>
                    <a:pt x="0" y="34392"/>
                  </a:lnTo>
                  <a:cubicBezTo>
                    <a:pt x="0" y="25271"/>
                    <a:pt x="3623" y="16523"/>
                    <a:pt x="10073" y="10073"/>
                  </a:cubicBezTo>
                  <a:cubicBezTo>
                    <a:pt x="16523" y="3623"/>
                    <a:pt x="25271" y="0"/>
                    <a:pt x="343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23670" cy="317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7872" y="3581106"/>
            <a:ext cx="11073376" cy="75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458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Raw data is like crude oil;</a:t>
            </a:r>
          </a:p>
          <a:p>
            <a:pPr algn="ctr">
              <a:lnSpc>
                <a:spcPts val="2901"/>
              </a:lnSpc>
              <a:spcBef>
                <a:spcPct val="0"/>
              </a:spcBef>
            </a:pPr>
            <a:r>
              <a:rPr lang="en-US" sz="2458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it becomes valuable only when it is refined into meaningful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26961" y="4543922"/>
            <a:ext cx="10034077" cy="353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Hospital generates large volumes of data.</a:t>
            </a:r>
          </a:p>
          <a:p>
            <a:pPr marL="496567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includes patients, doctors, pharmacy, laboratory and billing.</a:t>
            </a:r>
          </a:p>
          <a:p>
            <a:pPr marL="496567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Analysing raw data manually is time-consuming.</a:t>
            </a:r>
          </a:p>
          <a:p>
            <a:pPr marL="496567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Power BI helps convert data into meaningful visual insights.</a:t>
            </a:r>
          </a:p>
          <a:p>
            <a:pPr marL="496567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project provides an interactive and centralized dashboard.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763622" y="346794"/>
            <a:ext cx="2534787" cy="1783568"/>
          </a:xfrm>
          <a:custGeom>
            <a:avLst/>
            <a:gdLst/>
            <a:ahLst/>
            <a:cxnLst/>
            <a:rect l="l" t="t" r="r" b="b"/>
            <a:pathLst>
              <a:path w="2534787" h="1783568">
                <a:moveTo>
                  <a:pt x="0" y="0"/>
                </a:moveTo>
                <a:lnTo>
                  <a:pt x="2534787" y="0"/>
                </a:lnTo>
                <a:lnTo>
                  <a:pt x="2534787" y="1783568"/>
                </a:lnTo>
                <a:lnTo>
                  <a:pt x="0" y="1783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40965" y="346794"/>
            <a:ext cx="1363812" cy="136381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96039" y="1980176"/>
            <a:ext cx="1363812" cy="136381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02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1851330">
            <a:off x="-2316768" y="79851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51330">
            <a:off x="16666737" y="-184776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966943" y="2038250"/>
            <a:ext cx="7008924" cy="6921840"/>
            <a:chOff x="0" y="0"/>
            <a:chExt cx="1324398" cy="13079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4397" cy="1307943"/>
            </a:xfrm>
            <a:custGeom>
              <a:avLst/>
              <a:gdLst/>
              <a:ahLst/>
              <a:cxnLst/>
              <a:rect l="l" t="t" r="r" b="b"/>
              <a:pathLst>
                <a:path w="1324397" h="1307943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185242"/>
                  </a:lnTo>
                  <a:cubicBezTo>
                    <a:pt x="1" y="1253008"/>
                    <a:pt x="54936" y="1307943"/>
                    <a:pt x="122702" y="1307943"/>
                  </a:cubicBezTo>
                  <a:lnTo>
                    <a:pt x="1201694" y="1307943"/>
                  </a:lnTo>
                  <a:cubicBezTo>
                    <a:pt x="1269460" y="1307943"/>
                    <a:pt x="1324396" y="1253008"/>
                    <a:pt x="1324397" y="1185242"/>
                  </a:cubicBezTo>
                  <a:lnTo>
                    <a:pt x="1324397" y="122701"/>
                  </a:lnTo>
                  <a:cubicBezTo>
                    <a:pt x="1324396" y="54935"/>
                    <a:pt x="1269461" y="1"/>
                    <a:pt x="120169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3"/>
              <a:stretch>
                <a:fillRect l="-24253" r="-2425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2131571" y="8436961"/>
            <a:ext cx="1646534" cy="1850039"/>
          </a:xfrm>
          <a:custGeom>
            <a:avLst/>
            <a:gdLst/>
            <a:ahLst/>
            <a:cxnLst/>
            <a:rect l="l" t="t" r="r" b="b"/>
            <a:pathLst>
              <a:path w="1646534" h="1850039">
                <a:moveTo>
                  <a:pt x="0" y="0"/>
                </a:moveTo>
                <a:lnTo>
                  <a:pt x="1646535" y="0"/>
                </a:lnTo>
                <a:lnTo>
                  <a:pt x="1646535" y="1850039"/>
                </a:lnTo>
                <a:lnTo>
                  <a:pt x="0" y="18500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03119" y="2964351"/>
            <a:ext cx="5383317" cy="69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413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WHY THIS PROJECT?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24225" y="3686215"/>
            <a:ext cx="7242718" cy="353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Huge amount of hospital data</a:t>
            </a:r>
          </a:p>
          <a:p>
            <a:pPr marL="496569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reports are slow and error-prone</a:t>
            </a:r>
          </a:p>
          <a:p>
            <a:pPr marL="496569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for data-driven decisions</a:t>
            </a:r>
          </a:p>
          <a:p>
            <a:pPr marL="496569" lvl="1" indent="-248284" algn="just">
              <a:lnSpc>
                <a:spcPts val="57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dashboards improve efficiency</a:t>
            </a:r>
          </a:p>
          <a:p>
            <a:pPr algn="l">
              <a:lnSpc>
                <a:spcPts val="5749"/>
              </a:lnSpc>
            </a:pPr>
            <a:endParaRPr lang="en-US" sz="22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55774" y="796983"/>
            <a:ext cx="1363812" cy="136381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03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1851330">
            <a:off x="-2316768" y="79851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2160795"/>
            <a:ext cx="7090886" cy="5900162"/>
            <a:chOff x="0" y="0"/>
            <a:chExt cx="2736992" cy="2277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36992" cy="2277388"/>
            </a:xfrm>
            <a:custGeom>
              <a:avLst/>
              <a:gdLst/>
              <a:ahLst/>
              <a:cxnLst/>
              <a:rect l="l" t="t" r="r" b="b"/>
              <a:pathLst>
                <a:path w="2736992" h="2277388">
                  <a:moveTo>
                    <a:pt x="56774" y="0"/>
                  </a:moveTo>
                  <a:lnTo>
                    <a:pt x="2680218" y="0"/>
                  </a:lnTo>
                  <a:cubicBezTo>
                    <a:pt x="2711574" y="0"/>
                    <a:pt x="2736992" y="25419"/>
                    <a:pt x="2736992" y="56774"/>
                  </a:cubicBezTo>
                  <a:lnTo>
                    <a:pt x="2736992" y="2220614"/>
                  </a:lnTo>
                  <a:cubicBezTo>
                    <a:pt x="2736992" y="2251970"/>
                    <a:pt x="2711574" y="2277388"/>
                    <a:pt x="2680218" y="2277388"/>
                  </a:cubicBezTo>
                  <a:lnTo>
                    <a:pt x="56774" y="2277388"/>
                  </a:lnTo>
                  <a:cubicBezTo>
                    <a:pt x="41717" y="2277388"/>
                    <a:pt x="27276" y="2271407"/>
                    <a:pt x="16629" y="2260759"/>
                  </a:cubicBezTo>
                  <a:cubicBezTo>
                    <a:pt x="5982" y="2250112"/>
                    <a:pt x="0" y="2235671"/>
                    <a:pt x="0" y="2220614"/>
                  </a:cubicBezTo>
                  <a:lnTo>
                    <a:pt x="0" y="56774"/>
                  </a:lnTo>
                  <a:cubicBezTo>
                    <a:pt x="0" y="25419"/>
                    <a:pt x="25419" y="0"/>
                    <a:pt x="56774" y="0"/>
                  </a:cubicBezTo>
                  <a:close/>
                </a:path>
              </a:pathLst>
            </a:custGeom>
            <a:blipFill>
              <a:blip r:embed="rId3"/>
              <a:stretch>
                <a:fillRect l="-12562" r="-1256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926096" y="5301967"/>
            <a:ext cx="4361904" cy="4985033"/>
          </a:xfrm>
          <a:custGeom>
            <a:avLst/>
            <a:gdLst/>
            <a:ahLst/>
            <a:cxnLst/>
            <a:rect l="l" t="t" r="r" b="b"/>
            <a:pathLst>
              <a:path w="4361904" h="4985033">
                <a:moveTo>
                  <a:pt x="0" y="0"/>
                </a:moveTo>
                <a:lnTo>
                  <a:pt x="4361904" y="0"/>
                </a:lnTo>
                <a:lnTo>
                  <a:pt x="4361904" y="4985033"/>
                </a:lnTo>
                <a:lnTo>
                  <a:pt x="0" y="4985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44000" y="2907673"/>
            <a:ext cx="5383317" cy="69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4131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CHALLENGE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6567" y="3627996"/>
            <a:ext cx="7242718" cy="4432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Large amount of hospital data</a:t>
            </a:r>
          </a:p>
          <a:p>
            <a:pPr marL="518158" lvl="1" indent="-259079" algn="l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Time-consuming manual analysis</a:t>
            </a:r>
          </a:p>
          <a:p>
            <a:pPr marL="518158" lvl="1" indent="-259079" algn="l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Difficulty in identifying trends</a:t>
            </a:r>
          </a:p>
          <a:p>
            <a:pPr marL="518158" lvl="1" indent="-259079" algn="l">
              <a:lnSpc>
                <a:spcPts val="599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for centralized reporting</a:t>
            </a:r>
          </a:p>
          <a:p>
            <a:pPr algn="l">
              <a:lnSpc>
                <a:spcPts val="5999"/>
              </a:lnSpc>
            </a:pPr>
            <a:endParaRPr lang="en-US" sz="23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999"/>
              </a:lnSpc>
            </a:pPr>
            <a:endParaRPr lang="en-US" sz="23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 rot="-1851330">
            <a:off x="16320008" y="-1904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19214" y="833339"/>
            <a:ext cx="1363812" cy="136381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04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20044293" cy="10751276"/>
          </a:xfrm>
          <a:custGeom>
            <a:avLst/>
            <a:gdLst/>
            <a:ahLst/>
            <a:cxnLst/>
            <a:rect l="l" t="t" r="r" b="b"/>
            <a:pathLst>
              <a:path w="20044293" h="10751276">
                <a:moveTo>
                  <a:pt x="0" y="0"/>
                </a:moveTo>
                <a:lnTo>
                  <a:pt x="20044293" y="0"/>
                </a:lnTo>
                <a:lnTo>
                  <a:pt x="20044293" y="10751276"/>
                </a:lnTo>
                <a:lnTo>
                  <a:pt x="0" y="10751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30" b="-593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184168" y="4885436"/>
            <a:ext cx="1657350" cy="16573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54058" y="5847987"/>
            <a:ext cx="1657350" cy="16573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27710" y="4885436"/>
            <a:ext cx="1657350" cy="16573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292672" y="5847987"/>
            <a:ext cx="1657350" cy="16573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94265" y="4885436"/>
            <a:ext cx="1657350" cy="165735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4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4012843" y="3844830"/>
            <a:ext cx="10510097" cy="1040606"/>
          </a:xfrm>
          <a:custGeom>
            <a:avLst/>
            <a:gdLst/>
            <a:ahLst/>
            <a:cxnLst/>
            <a:rect l="l" t="t" r="r" b="b"/>
            <a:pathLst>
              <a:path w="10510097" h="1040606">
                <a:moveTo>
                  <a:pt x="0" y="1040606"/>
                </a:moveTo>
                <a:lnTo>
                  <a:pt x="0" y="228600"/>
                </a:lnTo>
                <a:cubicBezTo>
                  <a:pt x="0" y="167972"/>
                  <a:pt x="24085" y="109826"/>
                  <a:pt x="66955" y="66955"/>
                </a:cubicBezTo>
                <a:cubicBezTo>
                  <a:pt x="109826" y="24085"/>
                  <a:pt x="167972" y="0"/>
                  <a:pt x="228600" y="0"/>
                </a:cubicBezTo>
                <a:lnTo>
                  <a:pt x="10281497" y="0"/>
                </a:lnTo>
                <a:cubicBezTo>
                  <a:pt x="10407750" y="0"/>
                  <a:pt x="10510097" y="102348"/>
                  <a:pt x="10510097" y="228600"/>
                </a:cubicBezTo>
                <a:lnTo>
                  <a:pt x="10510097" y="1040606"/>
                </a:lnTo>
              </a:path>
            </a:pathLst>
          </a:cu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</p:sp>
      <p:sp>
        <p:nvSpPr>
          <p:cNvPr id="22" name="AutoShape 22"/>
          <p:cNvSpPr/>
          <p:nvPr/>
        </p:nvSpPr>
        <p:spPr>
          <a:xfrm flipV="1">
            <a:off x="6582733" y="3857530"/>
            <a:ext cx="0" cy="1990457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H="1" flipV="1">
            <a:off x="9356385" y="3857530"/>
            <a:ext cx="0" cy="1027907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flipV="1">
            <a:off x="12121347" y="3857530"/>
            <a:ext cx="0" cy="1990457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V="1">
            <a:off x="14537227" y="3857530"/>
            <a:ext cx="0" cy="1027907"/>
          </a:xfrm>
          <a:prstGeom prst="line">
            <a:avLst/>
          </a:prstGeom>
          <a:ln w="28575" cap="flat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none" w="sm" len="sm"/>
          </a:ln>
        </p:spPr>
      </p:sp>
      <p:sp>
        <p:nvSpPr>
          <p:cNvPr id="26" name="Freeform 26"/>
          <p:cNvSpPr/>
          <p:nvPr/>
        </p:nvSpPr>
        <p:spPr>
          <a:xfrm>
            <a:off x="3434343" y="5225180"/>
            <a:ext cx="986834" cy="977863"/>
          </a:xfrm>
          <a:custGeom>
            <a:avLst/>
            <a:gdLst/>
            <a:ahLst/>
            <a:cxnLst/>
            <a:rect l="l" t="t" r="r" b="b"/>
            <a:pathLst>
              <a:path w="986834" h="977863">
                <a:moveTo>
                  <a:pt x="0" y="0"/>
                </a:moveTo>
                <a:lnTo>
                  <a:pt x="986834" y="0"/>
                </a:lnTo>
                <a:lnTo>
                  <a:pt x="986834" y="977863"/>
                </a:lnTo>
                <a:lnTo>
                  <a:pt x="0" y="9778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887523" y="5217244"/>
            <a:ext cx="937724" cy="993735"/>
          </a:xfrm>
          <a:custGeom>
            <a:avLst/>
            <a:gdLst/>
            <a:ahLst/>
            <a:cxnLst/>
            <a:rect l="l" t="t" r="r" b="b"/>
            <a:pathLst>
              <a:path w="937724" h="993735">
                <a:moveTo>
                  <a:pt x="0" y="0"/>
                </a:moveTo>
                <a:lnTo>
                  <a:pt x="937724" y="0"/>
                </a:lnTo>
                <a:lnTo>
                  <a:pt x="937724" y="993734"/>
                </a:lnTo>
                <a:lnTo>
                  <a:pt x="0" y="993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211960" y="6210978"/>
            <a:ext cx="741547" cy="944099"/>
          </a:xfrm>
          <a:custGeom>
            <a:avLst/>
            <a:gdLst/>
            <a:ahLst/>
            <a:cxnLst/>
            <a:rect l="l" t="t" r="r" b="b"/>
            <a:pathLst>
              <a:path w="741547" h="944099">
                <a:moveTo>
                  <a:pt x="0" y="0"/>
                </a:moveTo>
                <a:lnTo>
                  <a:pt x="741547" y="0"/>
                </a:lnTo>
                <a:lnTo>
                  <a:pt x="741547" y="944099"/>
                </a:lnTo>
                <a:lnTo>
                  <a:pt x="0" y="944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692211" y="6203043"/>
            <a:ext cx="858272" cy="858272"/>
          </a:xfrm>
          <a:custGeom>
            <a:avLst/>
            <a:gdLst/>
            <a:ahLst/>
            <a:cxnLst/>
            <a:rect l="l" t="t" r="r" b="b"/>
            <a:pathLst>
              <a:path w="858272" h="858272">
                <a:moveTo>
                  <a:pt x="0" y="0"/>
                </a:moveTo>
                <a:lnTo>
                  <a:pt x="858272" y="0"/>
                </a:lnTo>
                <a:lnTo>
                  <a:pt x="858272" y="858271"/>
                </a:lnTo>
                <a:lnTo>
                  <a:pt x="0" y="8582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034797" y="5284053"/>
            <a:ext cx="1004860" cy="918990"/>
          </a:xfrm>
          <a:custGeom>
            <a:avLst/>
            <a:gdLst/>
            <a:ahLst/>
            <a:cxnLst/>
            <a:rect l="l" t="t" r="r" b="b"/>
            <a:pathLst>
              <a:path w="1004860" h="918990">
                <a:moveTo>
                  <a:pt x="0" y="0"/>
                </a:moveTo>
                <a:lnTo>
                  <a:pt x="1004860" y="0"/>
                </a:lnTo>
                <a:lnTo>
                  <a:pt x="1004860" y="918990"/>
                </a:lnTo>
                <a:lnTo>
                  <a:pt x="0" y="918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-1323024" y="0"/>
            <a:ext cx="2904248" cy="3830542"/>
          </a:xfrm>
          <a:custGeom>
            <a:avLst/>
            <a:gdLst/>
            <a:ahLst/>
            <a:cxnLst/>
            <a:rect l="l" t="t" r="r" b="b"/>
            <a:pathLst>
              <a:path w="2904248" h="3830542">
                <a:moveTo>
                  <a:pt x="0" y="0"/>
                </a:moveTo>
                <a:lnTo>
                  <a:pt x="2904247" y="0"/>
                </a:lnTo>
                <a:lnTo>
                  <a:pt x="2904247" y="3830542"/>
                </a:lnTo>
                <a:lnTo>
                  <a:pt x="0" y="383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7259300" y="8187509"/>
            <a:ext cx="1778325" cy="2345513"/>
          </a:xfrm>
          <a:custGeom>
            <a:avLst/>
            <a:gdLst/>
            <a:ahLst/>
            <a:cxnLst/>
            <a:rect l="l" t="t" r="r" b="b"/>
            <a:pathLst>
              <a:path w="1778325" h="2345513">
                <a:moveTo>
                  <a:pt x="0" y="0"/>
                </a:moveTo>
                <a:lnTo>
                  <a:pt x="1778325" y="0"/>
                </a:lnTo>
                <a:lnTo>
                  <a:pt x="1778325" y="2345513"/>
                </a:lnTo>
                <a:lnTo>
                  <a:pt x="0" y="2345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818060" y="1787507"/>
            <a:ext cx="10651879" cy="110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0"/>
              </a:lnSpc>
            </a:pPr>
            <a:r>
              <a:rPr lang="en-US" sz="6689" b="1">
                <a:solidFill>
                  <a:srgbClr val="FF751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DATA ANALYSIS 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8410" y="6766624"/>
            <a:ext cx="1898071" cy="31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15354" y="7236478"/>
            <a:ext cx="2524183" cy="31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Microsoft Excel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33698" y="7736096"/>
            <a:ext cx="1898071" cy="31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10870" y="8205950"/>
            <a:ext cx="2143727" cy="31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CSV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07350" y="6766624"/>
            <a:ext cx="1898071" cy="31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79276" y="7236478"/>
            <a:ext cx="2554220" cy="31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 Workbench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72311" y="7736096"/>
            <a:ext cx="1898071" cy="31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59255" y="8205950"/>
            <a:ext cx="2613978" cy="31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Powerbi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573904" y="6751742"/>
            <a:ext cx="1898071" cy="31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473233" y="7236478"/>
            <a:ext cx="2099413" cy="31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Figma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526530" cy="10287000"/>
            <a:chOff x="0" y="0"/>
            <a:chExt cx="1011130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1130" cy="1593725"/>
            </a:xfrm>
            <a:custGeom>
              <a:avLst/>
              <a:gdLst/>
              <a:ahLst/>
              <a:cxnLst/>
              <a:rect l="l" t="t" r="r" b="b"/>
              <a:pathLst>
                <a:path w="1011130" h="1593725">
                  <a:moveTo>
                    <a:pt x="0" y="0"/>
                  </a:moveTo>
                  <a:lnTo>
                    <a:pt x="1011130" y="0"/>
                  </a:lnTo>
                  <a:lnTo>
                    <a:pt x="101113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08" r="-240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370866" y="5953"/>
            <a:ext cx="1363812" cy="136381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05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-30861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62972" y="5828528"/>
            <a:ext cx="4687313" cy="4704420"/>
          </a:xfrm>
          <a:custGeom>
            <a:avLst/>
            <a:gdLst/>
            <a:ahLst/>
            <a:cxnLst/>
            <a:rect l="l" t="t" r="r" b="b"/>
            <a:pathLst>
              <a:path w="4687313" h="4704420">
                <a:moveTo>
                  <a:pt x="0" y="0"/>
                </a:moveTo>
                <a:lnTo>
                  <a:pt x="4687313" y="0"/>
                </a:lnTo>
                <a:lnTo>
                  <a:pt x="4687313" y="4704419"/>
                </a:lnTo>
                <a:lnTo>
                  <a:pt x="0" y="4704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6526530" y="8760758"/>
            <a:ext cx="1526242" cy="1526242"/>
          </a:xfrm>
          <a:custGeom>
            <a:avLst/>
            <a:gdLst/>
            <a:ahLst/>
            <a:cxnLst/>
            <a:rect l="l" t="t" r="r" b="b"/>
            <a:pathLst>
              <a:path w="1526242" h="1526242">
                <a:moveTo>
                  <a:pt x="1526242" y="1526242"/>
                </a:moveTo>
                <a:lnTo>
                  <a:pt x="0" y="1526242"/>
                </a:lnTo>
                <a:lnTo>
                  <a:pt x="0" y="0"/>
                </a:lnTo>
                <a:lnTo>
                  <a:pt x="1526242" y="0"/>
                </a:lnTo>
                <a:lnTo>
                  <a:pt x="1526242" y="15262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280581" y="1713782"/>
            <a:ext cx="9341047" cy="225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7"/>
              </a:lnSpc>
            </a:pPr>
            <a:r>
              <a:rPr lang="en-US" sz="7487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TECHNOLOGY BEHIND 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2040" y="3913430"/>
            <a:ext cx="6377881" cy="4982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5749"/>
              </a:lnSpc>
              <a:buFont typeface="Arial"/>
              <a:buChar char="•"/>
            </a:pPr>
            <a:r>
              <a:rPr lang="en-US" sz="2299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Microsoft Excel  - </a:t>
            </a:r>
            <a:r>
              <a:rPr lang="en-US" sz="22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 preparation</a:t>
            </a:r>
          </a:p>
          <a:p>
            <a:pPr marL="496567" lvl="1" indent="-248284" algn="l">
              <a:lnSpc>
                <a:spcPts val="5749"/>
              </a:lnSpc>
              <a:buFont typeface="Arial"/>
              <a:buChar char="•"/>
            </a:pPr>
            <a:r>
              <a:rPr lang="en-US" sz="2299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CSV </a:t>
            </a:r>
            <a:r>
              <a:rPr lang="en-US" sz="22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Data format and transfer</a:t>
            </a:r>
          </a:p>
          <a:p>
            <a:pPr marL="496567" lvl="1" indent="-248284" algn="l">
              <a:lnSpc>
                <a:spcPts val="5749"/>
              </a:lnSpc>
              <a:buFont typeface="Arial"/>
              <a:buChar char="•"/>
            </a:pPr>
            <a:r>
              <a:rPr lang="en-US" sz="2299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MySQL Workbench </a:t>
            </a:r>
            <a:r>
              <a:rPr lang="en-US" sz="22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Data import and storage</a:t>
            </a:r>
          </a:p>
          <a:p>
            <a:pPr marL="496567" lvl="1" indent="-248284" algn="l">
              <a:lnSpc>
                <a:spcPts val="5749"/>
              </a:lnSpc>
              <a:buFont typeface="Arial"/>
              <a:buChar char="•"/>
            </a:pPr>
            <a:r>
              <a:rPr lang="en-US" sz="2299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Power BI </a:t>
            </a:r>
            <a:r>
              <a:rPr lang="en-US" sz="22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Data analysis and visualization</a:t>
            </a:r>
          </a:p>
          <a:p>
            <a:pPr marL="496567" lvl="1" indent="-248284" algn="l">
              <a:lnSpc>
                <a:spcPts val="5749"/>
              </a:lnSpc>
              <a:buFont typeface="Arial"/>
              <a:buChar char="•"/>
            </a:pPr>
            <a:r>
              <a:rPr lang="en-US" sz="2299" b="1" i="1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Figma </a:t>
            </a:r>
            <a:r>
              <a:rPr lang="en-US" sz="2299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 UI and dashboard design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00153" y="346794"/>
            <a:ext cx="1363812" cy="136381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34370" y="2969386"/>
            <a:ext cx="5507763" cy="793795"/>
            <a:chOff x="0" y="0"/>
            <a:chExt cx="1450604" cy="2090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0604" cy="209065"/>
            </a:xfrm>
            <a:custGeom>
              <a:avLst/>
              <a:gdLst/>
              <a:ahLst/>
              <a:cxnLst/>
              <a:rect l="l" t="t" r="r" b="b"/>
              <a:pathLst>
                <a:path w="1450604" h="209065">
                  <a:moveTo>
                    <a:pt x="71688" y="0"/>
                  </a:moveTo>
                  <a:lnTo>
                    <a:pt x="1378917" y="0"/>
                  </a:lnTo>
                  <a:cubicBezTo>
                    <a:pt x="1397929" y="0"/>
                    <a:pt x="1416163" y="7553"/>
                    <a:pt x="1429608" y="20997"/>
                  </a:cubicBezTo>
                  <a:cubicBezTo>
                    <a:pt x="1443052" y="34441"/>
                    <a:pt x="1450604" y="52675"/>
                    <a:pt x="1450604" y="71688"/>
                  </a:cubicBezTo>
                  <a:lnTo>
                    <a:pt x="1450604" y="137378"/>
                  </a:lnTo>
                  <a:cubicBezTo>
                    <a:pt x="1450604" y="176970"/>
                    <a:pt x="1418509" y="209065"/>
                    <a:pt x="1378917" y="209065"/>
                  </a:cubicBezTo>
                  <a:lnTo>
                    <a:pt x="71688" y="209065"/>
                  </a:lnTo>
                  <a:cubicBezTo>
                    <a:pt x="32096" y="209065"/>
                    <a:pt x="0" y="176970"/>
                    <a:pt x="0" y="137378"/>
                  </a:cubicBezTo>
                  <a:lnTo>
                    <a:pt x="0" y="71688"/>
                  </a:lnTo>
                  <a:cubicBezTo>
                    <a:pt x="0" y="32096"/>
                    <a:pt x="32096" y="0"/>
                    <a:pt x="71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50604" cy="247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i="1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Key Performance Indicators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761470" y="0"/>
            <a:ext cx="6526530" cy="10287000"/>
            <a:chOff x="0" y="0"/>
            <a:chExt cx="1011130" cy="15937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1130" cy="1593725"/>
            </a:xfrm>
            <a:custGeom>
              <a:avLst/>
              <a:gdLst/>
              <a:ahLst/>
              <a:cxnLst/>
              <a:rect l="l" t="t" r="r" b="b"/>
              <a:pathLst>
                <a:path w="1011130" h="1593725">
                  <a:moveTo>
                    <a:pt x="0" y="0"/>
                  </a:moveTo>
                  <a:lnTo>
                    <a:pt x="1011130" y="0"/>
                  </a:lnTo>
                  <a:lnTo>
                    <a:pt x="101113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67625" r="-67625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0" y="9102182"/>
            <a:ext cx="3536770" cy="1184818"/>
          </a:xfrm>
          <a:custGeom>
            <a:avLst/>
            <a:gdLst/>
            <a:ahLst/>
            <a:cxnLst/>
            <a:rect l="l" t="t" r="r" b="b"/>
            <a:pathLst>
              <a:path w="3536770" h="1184818">
                <a:moveTo>
                  <a:pt x="0" y="0"/>
                </a:moveTo>
                <a:lnTo>
                  <a:pt x="3536770" y="0"/>
                </a:lnTo>
                <a:lnTo>
                  <a:pt x="3536770" y="1184818"/>
                </a:lnTo>
                <a:lnTo>
                  <a:pt x="0" y="11848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50000" y="1929521"/>
            <a:ext cx="8532059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LOGIC &amp; VALIDATION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68345" y="4441855"/>
            <a:ext cx="5136850" cy="4594445"/>
            <a:chOff x="0" y="0"/>
            <a:chExt cx="1403152" cy="12549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03152" cy="1254992"/>
            </a:xfrm>
            <a:custGeom>
              <a:avLst/>
              <a:gdLst/>
              <a:ahLst/>
              <a:cxnLst/>
              <a:rect l="l" t="t" r="r" b="b"/>
              <a:pathLst>
                <a:path w="1403152" h="1254992">
                  <a:moveTo>
                    <a:pt x="76864" y="0"/>
                  </a:moveTo>
                  <a:lnTo>
                    <a:pt x="1326288" y="0"/>
                  </a:lnTo>
                  <a:cubicBezTo>
                    <a:pt x="1368739" y="0"/>
                    <a:pt x="1403152" y="34413"/>
                    <a:pt x="1403152" y="76864"/>
                  </a:cubicBezTo>
                  <a:lnTo>
                    <a:pt x="1403152" y="1178128"/>
                  </a:lnTo>
                  <a:cubicBezTo>
                    <a:pt x="1403152" y="1220579"/>
                    <a:pt x="1368739" y="1254992"/>
                    <a:pt x="1326288" y="1254992"/>
                  </a:cubicBezTo>
                  <a:lnTo>
                    <a:pt x="76864" y="1254992"/>
                  </a:lnTo>
                  <a:cubicBezTo>
                    <a:pt x="34413" y="1254992"/>
                    <a:pt x="0" y="1220579"/>
                    <a:pt x="0" y="1178128"/>
                  </a:cubicBezTo>
                  <a:lnTo>
                    <a:pt x="0" y="76864"/>
                  </a:lnTo>
                  <a:cubicBezTo>
                    <a:pt x="0" y="34413"/>
                    <a:pt x="34413" y="0"/>
                    <a:pt x="76864" y="0"/>
                  </a:cubicBezTo>
                  <a:close/>
                </a:path>
              </a:pathLst>
            </a:custGeom>
            <a:solidFill>
              <a:srgbClr val="35A0E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03152" cy="1293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45229" y="4559230"/>
            <a:ext cx="4862503" cy="415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LOGICAL THINKING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Grouped related information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Organized data by hospital areas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Simplified navigation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Designed for easy analysis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366176" y="4441855"/>
            <a:ext cx="5136850" cy="4594445"/>
            <a:chOff x="0" y="0"/>
            <a:chExt cx="1403152" cy="12549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03152" cy="1254992"/>
            </a:xfrm>
            <a:custGeom>
              <a:avLst/>
              <a:gdLst/>
              <a:ahLst/>
              <a:cxnLst/>
              <a:rect l="l" t="t" r="r" b="b"/>
              <a:pathLst>
                <a:path w="1403152" h="1254992">
                  <a:moveTo>
                    <a:pt x="76864" y="0"/>
                  </a:moveTo>
                  <a:lnTo>
                    <a:pt x="1326288" y="0"/>
                  </a:lnTo>
                  <a:cubicBezTo>
                    <a:pt x="1368739" y="0"/>
                    <a:pt x="1403152" y="34413"/>
                    <a:pt x="1403152" y="76864"/>
                  </a:cubicBezTo>
                  <a:lnTo>
                    <a:pt x="1403152" y="1178128"/>
                  </a:lnTo>
                  <a:cubicBezTo>
                    <a:pt x="1403152" y="1220579"/>
                    <a:pt x="1368739" y="1254992"/>
                    <a:pt x="1326288" y="1254992"/>
                  </a:cubicBezTo>
                  <a:lnTo>
                    <a:pt x="76864" y="1254992"/>
                  </a:lnTo>
                  <a:cubicBezTo>
                    <a:pt x="34413" y="1254992"/>
                    <a:pt x="0" y="1220579"/>
                    <a:pt x="0" y="1178128"/>
                  </a:cubicBezTo>
                  <a:lnTo>
                    <a:pt x="0" y="76864"/>
                  </a:lnTo>
                  <a:cubicBezTo>
                    <a:pt x="0" y="34413"/>
                    <a:pt x="34413" y="0"/>
                    <a:pt x="76864" y="0"/>
                  </a:cubicBezTo>
                  <a:close/>
                </a:path>
              </a:pathLst>
            </a:custGeom>
            <a:solidFill>
              <a:srgbClr val="35A0E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03152" cy="1293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503350" y="4792586"/>
            <a:ext cx="4862503" cy="355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Verified data accuracy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Checked visuals and KPIs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Tested filters and slicers</a:t>
            </a:r>
          </a:p>
          <a:p>
            <a:pPr marL="518157" lvl="1" indent="-259078" algn="l">
              <a:lnSpc>
                <a:spcPts val="4775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Tested navigation and page transitions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06136" y="2051614"/>
            <a:ext cx="6768010" cy="6196382"/>
            <a:chOff x="0" y="0"/>
            <a:chExt cx="1143872" cy="1047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872" cy="1047260"/>
            </a:xfrm>
            <a:custGeom>
              <a:avLst/>
              <a:gdLst/>
              <a:ahLst/>
              <a:cxnLst/>
              <a:rect l="l" t="t" r="r" b="b"/>
              <a:pathLst>
                <a:path w="1143872" h="1047260">
                  <a:moveTo>
                    <a:pt x="0" y="0"/>
                  </a:moveTo>
                  <a:lnTo>
                    <a:pt x="1143872" y="0"/>
                  </a:lnTo>
                  <a:lnTo>
                    <a:pt x="1143872" y="1047260"/>
                  </a:lnTo>
                  <a:lnTo>
                    <a:pt x="0" y="104726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3827865"/>
            <a:ext cx="3182786" cy="4133631"/>
            <a:chOff x="0" y="0"/>
            <a:chExt cx="869391" cy="11291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9391" cy="1129118"/>
            </a:xfrm>
            <a:custGeom>
              <a:avLst/>
              <a:gdLst/>
              <a:ahLst/>
              <a:cxnLst/>
              <a:rect l="l" t="t" r="r" b="b"/>
              <a:pathLst>
                <a:path w="869391" h="1129118">
                  <a:moveTo>
                    <a:pt x="124054" y="0"/>
                  </a:moveTo>
                  <a:lnTo>
                    <a:pt x="745337" y="0"/>
                  </a:lnTo>
                  <a:cubicBezTo>
                    <a:pt x="813850" y="0"/>
                    <a:pt x="869391" y="55541"/>
                    <a:pt x="869391" y="124054"/>
                  </a:cubicBezTo>
                  <a:lnTo>
                    <a:pt x="869391" y="1005064"/>
                  </a:lnTo>
                  <a:cubicBezTo>
                    <a:pt x="869391" y="1073577"/>
                    <a:pt x="813850" y="1129118"/>
                    <a:pt x="745337" y="1129118"/>
                  </a:cubicBezTo>
                  <a:lnTo>
                    <a:pt x="124054" y="1129118"/>
                  </a:lnTo>
                  <a:cubicBezTo>
                    <a:pt x="91153" y="1129118"/>
                    <a:pt x="59599" y="1116048"/>
                    <a:pt x="36335" y="1092784"/>
                  </a:cubicBezTo>
                  <a:cubicBezTo>
                    <a:pt x="13070" y="1069519"/>
                    <a:pt x="0" y="1037965"/>
                    <a:pt x="0" y="1005064"/>
                  </a:cubicBezTo>
                  <a:lnTo>
                    <a:pt x="0" y="124054"/>
                  </a:lnTo>
                  <a:cubicBezTo>
                    <a:pt x="0" y="91153"/>
                    <a:pt x="13070" y="59599"/>
                    <a:pt x="36335" y="36335"/>
                  </a:cubicBezTo>
                  <a:cubicBezTo>
                    <a:pt x="59599" y="13070"/>
                    <a:pt x="91153" y="0"/>
                    <a:pt x="124054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69391" cy="116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16" y="3827865"/>
            <a:ext cx="3182786" cy="4133631"/>
            <a:chOff x="0" y="0"/>
            <a:chExt cx="869391" cy="11291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9391" cy="1129118"/>
            </a:xfrm>
            <a:custGeom>
              <a:avLst/>
              <a:gdLst/>
              <a:ahLst/>
              <a:cxnLst/>
              <a:rect l="l" t="t" r="r" b="b"/>
              <a:pathLst>
                <a:path w="869391" h="1129118">
                  <a:moveTo>
                    <a:pt x="124054" y="0"/>
                  </a:moveTo>
                  <a:lnTo>
                    <a:pt x="745337" y="0"/>
                  </a:lnTo>
                  <a:cubicBezTo>
                    <a:pt x="813850" y="0"/>
                    <a:pt x="869391" y="55541"/>
                    <a:pt x="869391" y="124054"/>
                  </a:cubicBezTo>
                  <a:lnTo>
                    <a:pt x="869391" y="1005064"/>
                  </a:lnTo>
                  <a:cubicBezTo>
                    <a:pt x="869391" y="1073577"/>
                    <a:pt x="813850" y="1129118"/>
                    <a:pt x="745337" y="1129118"/>
                  </a:cubicBezTo>
                  <a:lnTo>
                    <a:pt x="124054" y="1129118"/>
                  </a:lnTo>
                  <a:cubicBezTo>
                    <a:pt x="91153" y="1129118"/>
                    <a:pt x="59599" y="1116048"/>
                    <a:pt x="36335" y="1092784"/>
                  </a:cubicBezTo>
                  <a:cubicBezTo>
                    <a:pt x="13070" y="1069519"/>
                    <a:pt x="0" y="1037965"/>
                    <a:pt x="0" y="1005064"/>
                  </a:cubicBezTo>
                  <a:lnTo>
                    <a:pt x="0" y="124054"/>
                  </a:lnTo>
                  <a:cubicBezTo>
                    <a:pt x="0" y="91153"/>
                    <a:pt x="13070" y="59599"/>
                    <a:pt x="36335" y="36335"/>
                  </a:cubicBezTo>
                  <a:cubicBezTo>
                    <a:pt x="59599" y="13070"/>
                    <a:pt x="91153" y="0"/>
                    <a:pt x="1240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69391" cy="116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63084" y="3827865"/>
            <a:ext cx="3182786" cy="4133631"/>
            <a:chOff x="0" y="0"/>
            <a:chExt cx="869391" cy="11291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9391" cy="1129118"/>
            </a:xfrm>
            <a:custGeom>
              <a:avLst/>
              <a:gdLst/>
              <a:ahLst/>
              <a:cxnLst/>
              <a:rect l="l" t="t" r="r" b="b"/>
              <a:pathLst>
                <a:path w="869391" h="1129118">
                  <a:moveTo>
                    <a:pt x="124054" y="0"/>
                  </a:moveTo>
                  <a:lnTo>
                    <a:pt x="745337" y="0"/>
                  </a:lnTo>
                  <a:cubicBezTo>
                    <a:pt x="813850" y="0"/>
                    <a:pt x="869391" y="55541"/>
                    <a:pt x="869391" y="124054"/>
                  </a:cubicBezTo>
                  <a:lnTo>
                    <a:pt x="869391" y="1005064"/>
                  </a:lnTo>
                  <a:cubicBezTo>
                    <a:pt x="869391" y="1073577"/>
                    <a:pt x="813850" y="1129118"/>
                    <a:pt x="745337" y="1129118"/>
                  </a:cubicBezTo>
                  <a:lnTo>
                    <a:pt x="124054" y="1129118"/>
                  </a:lnTo>
                  <a:cubicBezTo>
                    <a:pt x="91153" y="1129118"/>
                    <a:pt x="59599" y="1116048"/>
                    <a:pt x="36335" y="1092784"/>
                  </a:cubicBezTo>
                  <a:cubicBezTo>
                    <a:pt x="13070" y="1069519"/>
                    <a:pt x="0" y="1037965"/>
                    <a:pt x="0" y="1005064"/>
                  </a:cubicBezTo>
                  <a:lnTo>
                    <a:pt x="0" y="124054"/>
                  </a:lnTo>
                  <a:cubicBezTo>
                    <a:pt x="0" y="91153"/>
                    <a:pt x="13070" y="59599"/>
                    <a:pt x="36335" y="36335"/>
                  </a:cubicBezTo>
                  <a:cubicBezTo>
                    <a:pt x="59599" y="13070"/>
                    <a:pt x="91153" y="0"/>
                    <a:pt x="124054" y="0"/>
                  </a:cubicBezTo>
                  <a:close/>
                </a:path>
              </a:pathLst>
            </a:custGeom>
            <a:solidFill>
              <a:srgbClr val="FDBB0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69391" cy="1167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225824" y="4223678"/>
            <a:ext cx="476438" cy="476438"/>
          </a:xfrm>
          <a:custGeom>
            <a:avLst/>
            <a:gdLst/>
            <a:ahLst/>
            <a:cxnLst/>
            <a:rect l="l" t="t" r="r" b="b"/>
            <a:pathLst>
              <a:path w="476438" h="476438">
                <a:moveTo>
                  <a:pt x="0" y="0"/>
                </a:moveTo>
                <a:lnTo>
                  <a:pt x="476438" y="0"/>
                </a:lnTo>
                <a:lnTo>
                  <a:pt x="476438" y="476438"/>
                </a:lnTo>
                <a:lnTo>
                  <a:pt x="0" y="47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828104" y="4223678"/>
            <a:ext cx="476438" cy="476438"/>
          </a:xfrm>
          <a:custGeom>
            <a:avLst/>
            <a:gdLst/>
            <a:ahLst/>
            <a:cxnLst/>
            <a:rect l="l" t="t" r="r" b="b"/>
            <a:pathLst>
              <a:path w="476438" h="476438">
                <a:moveTo>
                  <a:pt x="0" y="0"/>
                </a:moveTo>
                <a:lnTo>
                  <a:pt x="476438" y="0"/>
                </a:lnTo>
                <a:lnTo>
                  <a:pt x="476438" y="476438"/>
                </a:lnTo>
                <a:lnTo>
                  <a:pt x="0" y="47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315338" y="4223678"/>
            <a:ext cx="476438" cy="476438"/>
          </a:xfrm>
          <a:custGeom>
            <a:avLst/>
            <a:gdLst/>
            <a:ahLst/>
            <a:cxnLst/>
            <a:rect l="l" t="t" r="r" b="b"/>
            <a:pathLst>
              <a:path w="476438" h="476438">
                <a:moveTo>
                  <a:pt x="0" y="0"/>
                </a:moveTo>
                <a:lnTo>
                  <a:pt x="476438" y="0"/>
                </a:lnTo>
                <a:lnTo>
                  <a:pt x="476438" y="476438"/>
                </a:lnTo>
                <a:lnTo>
                  <a:pt x="0" y="47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852602" y="-1494723"/>
            <a:ext cx="2989445" cy="2989445"/>
          </a:xfrm>
          <a:custGeom>
            <a:avLst/>
            <a:gdLst/>
            <a:ahLst/>
            <a:cxnLst/>
            <a:rect l="l" t="t" r="r" b="b"/>
            <a:pathLst>
              <a:path w="2989445" h="2989445">
                <a:moveTo>
                  <a:pt x="0" y="0"/>
                </a:moveTo>
                <a:lnTo>
                  <a:pt x="2989446" y="0"/>
                </a:lnTo>
                <a:lnTo>
                  <a:pt x="2989446" y="2989446"/>
                </a:lnTo>
                <a:lnTo>
                  <a:pt x="0" y="2989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656351" y="293884"/>
            <a:ext cx="1363812" cy="136381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07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311138" y="9171625"/>
            <a:ext cx="1494723" cy="1494723"/>
          </a:xfrm>
          <a:custGeom>
            <a:avLst/>
            <a:gdLst/>
            <a:ahLst/>
            <a:cxnLst/>
            <a:rect l="l" t="t" r="r" b="b"/>
            <a:pathLst>
              <a:path w="1494723" h="1494723">
                <a:moveTo>
                  <a:pt x="0" y="0"/>
                </a:moveTo>
                <a:lnTo>
                  <a:pt x="1494723" y="0"/>
                </a:lnTo>
                <a:lnTo>
                  <a:pt x="1494723" y="1494722"/>
                </a:lnTo>
                <a:lnTo>
                  <a:pt x="0" y="1494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38517" y="2103772"/>
            <a:ext cx="11619668" cy="106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5"/>
              </a:lnSpc>
            </a:pPr>
            <a:r>
              <a:rPr lang="en-US" sz="6430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DASHBOARD OVERVIEW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9273" y="4848710"/>
            <a:ext cx="2972213" cy="68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333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MONTHLY ANALYTICS REPORT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9273" y="4089040"/>
            <a:ext cx="1276615" cy="79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4859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0040" y="5549660"/>
            <a:ext cx="2600107" cy="241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 algn="l">
              <a:lnSpc>
                <a:spcPts val="282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Performance Indicators</a:t>
            </a:r>
          </a:p>
          <a:p>
            <a:pPr marL="323850" lvl="1" indent="-161925" algn="l">
              <a:lnSpc>
                <a:spcPts val="282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Monthly Trends</a:t>
            </a:r>
          </a:p>
          <a:p>
            <a:pPr marL="323850" lvl="1" indent="-161925" algn="l">
              <a:lnSpc>
                <a:spcPts val="282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Revenue Analysis</a:t>
            </a:r>
          </a:p>
          <a:p>
            <a:pPr marL="323850" lvl="1" indent="-161925" algn="l">
              <a:lnSpc>
                <a:spcPts val="282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Comparison</a:t>
            </a:r>
          </a:p>
          <a:p>
            <a:pPr algn="l">
              <a:lnSpc>
                <a:spcPts val="2100"/>
              </a:lnSpc>
            </a:pPr>
            <a:endParaRPr lang="en-US" sz="1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622489" y="4796115"/>
            <a:ext cx="2972213" cy="68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333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REVENUE BREAKDOWN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04435" y="4089040"/>
            <a:ext cx="1276615" cy="79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4859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1948" y="4848710"/>
            <a:ext cx="2972213" cy="68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333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PATIENT BEHAVIOR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1948" y="4089040"/>
            <a:ext cx="1276615" cy="79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4859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91669" y="5492510"/>
            <a:ext cx="2600107" cy="21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 algn="just">
              <a:lnSpc>
                <a:spcPts val="3435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Patient Demographics</a:t>
            </a:r>
          </a:p>
          <a:p>
            <a:pPr marL="323850" lvl="1" indent="-161925" algn="just">
              <a:lnSpc>
                <a:spcPts val="3435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Patient Payment mode</a:t>
            </a:r>
          </a:p>
          <a:p>
            <a:pPr marL="323850" lvl="1" indent="-161925" algn="just">
              <a:lnSpc>
                <a:spcPts val="3435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Treatment Trends</a:t>
            </a:r>
          </a:p>
          <a:p>
            <a:pPr marL="323850" lvl="1" indent="-161925" algn="just">
              <a:lnSpc>
                <a:spcPts val="3435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Interactive Analysis</a:t>
            </a:r>
          </a:p>
          <a:p>
            <a:pPr algn="just">
              <a:lnSpc>
                <a:spcPts val="3435"/>
              </a:lnSpc>
            </a:pPr>
            <a:endParaRPr lang="en-US" sz="1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755912" y="5472282"/>
            <a:ext cx="2600107" cy="2207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 algn="just">
              <a:lnSpc>
                <a:spcPts val="3044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Revenue Distribution</a:t>
            </a:r>
          </a:p>
          <a:p>
            <a:pPr marL="323850" lvl="1" indent="-161925" algn="just">
              <a:lnSpc>
                <a:spcPts val="3044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Department-wise Performance</a:t>
            </a:r>
          </a:p>
          <a:p>
            <a:pPr marL="323850" lvl="1" indent="-161925" algn="just">
              <a:lnSpc>
                <a:spcPts val="3044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Revenue Contribution</a:t>
            </a:r>
          </a:p>
          <a:p>
            <a:pPr marL="323850" lvl="1" indent="-161925" algn="just">
              <a:lnSpc>
                <a:spcPts val="3044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  <a:p>
            <a:pPr algn="just">
              <a:lnSpc>
                <a:spcPts val="2100"/>
              </a:lnSpc>
            </a:pPr>
            <a:endParaRPr lang="en-US" sz="1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7910" y="4799904"/>
            <a:ext cx="6978662" cy="606865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2565" y="-475052"/>
            <a:ext cx="6715020" cy="6319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BACKGROUND DESIGN USING FIGMA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423" b="-142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HOME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594" b="-159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PATIENT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461" b="-146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DOCTOR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554" b="-155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885825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PHARMACY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554" b="-155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LAB TEST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563" b="-156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BILLING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492" b="-1492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2147" y="799120"/>
            <a:ext cx="15275013" cy="10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</a:pPr>
            <a:r>
              <a:rPr lang="en-US" sz="5944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MANAGEMENT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690" y="1838985"/>
            <a:ext cx="14799928" cy="8085051"/>
            <a:chOff x="0" y="0"/>
            <a:chExt cx="2736992" cy="1495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6992" cy="1495191"/>
            </a:xfrm>
            <a:custGeom>
              <a:avLst/>
              <a:gdLst/>
              <a:ahLst/>
              <a:cxnLst/>
              <a:rect l="l" t="t" r="r" b="b"/>
              <a:pathLst>
                <a:path w="2736992" h="1495191">
                  <a:moveTo>
                    <a:pt x="0" y="0"/>
                  </a:moveTo>
                  <a:lnTo>
                    <a:pt x="2736992" y="0"/>
                  </a:lnTo>
                  <a:lnTo>
                    <a:pt x="2736992" y="1495191"/>
                  </a:lnTo>
                  <a:lnTo>
                    <a:pt x="0" y="1495191"/>
                  </a:lnTo>
                  <a:close/>
                </a:path>
              </a:pathLst>
            </a:custGeom>
            <a:blipFill>
              <a:blip r:embed="rId3"/>
              <a:stretch>
                <a:fillRect t="-1594" b="-159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53553" y="653943"/>
            <a:ext cx="1363812" cy="136381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25400"/>
              <a:ext cx="635000" cy="7493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664"/>
                </a:lnSpc>
              </a:pPr>
              <a:r>
                <a:rPr lang="en-US" sz="480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08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4929172" y="1256068"/>
            <a:ext cx="5088595" cy="2925942"/>
          </a:xfrm>
          <a:custGeom>
            <a:avLst/>
            <a:gdLst/>
            <a:ahLst/>
            <a:cxnLst/>
            <a:rect l="l" t="t" r="r" b="b"/>
            <a:pathLst>
              <a:path w="5088595" h="2925942">
                <a:moveTo>
                  <a:pt x="0" y="0"/>
                </a:moveTo>
                <a:lnTo>
                  <a:pt x="5088594" y="0"/>
                </a:lnTo>
                <a:lnTo>
                  <a:pt x="5088594" y="2925942"/>
                </a:lnTo>
                <a:lnTo>
                  <a:pt x="0" y="2925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42344" y="4232573"/>
            <a:ext cx="7069966" cy="4594445"/>
            <a:chOff x="0" y="0"/>
            <a:chExt cx="1931190" cy="12549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1190" cy="1254992"/>
            </a:xfrm>
            <a:custGeom>
              <a:avLst/>
              <a:gdLst/>
              <a:ahLst/>
              <a:cxnLst/>
              <a:rect l="l" t="t" r="r" b="b"/>
              <a:pathLst>
                <a:path w="1931190" h="1254992">
                  <a:moveTo>
                    <a:pt x="55847" y="0"/>
                  </a:moveTo>
                  <a:lnTo>
                    <a:pt x="1875343" y="0"/>
                  </a:lnTo>
                  <a:cubicBezTo>
                    <a:pt x="1890155" y="0"/>
                    <a:pt x="1904360" y="5884"/>
                    <a:pt x="1914833" y="16357"/>
                  </a:cubicBezTo>
                  <a:cubicBezTo>
                    <a:pt x="1925307" y="26831"/>
                    <a:pt x="1931190" y="41036"/>
                    <a:pt x="1931190" y="55847"/>
                  </a:cubicBezTo>
                  <a:lnTo>
                    <a:pt x="1931190" y="1199144"/>
                  </a:lnTo>
                  <a:cubicBezTo>
                    <a:pt x="1931190" y="1213956"/>
                    <a:pt x="1925307" y="1228161"/>
                    <a:pt x="1914833" y="1238634"/>
                  </a:cubicBezTo>
                  <a:cubicBezTo>
                    <a:pt x="1904360" y="1249108"/>
                    <a:pt x="1890155" y="1254992"/>
                    <a:pt x="1875343" y="1254992"/>
                  </a:cubicBezTo>
                  <a:lnTo>
                    <a:pt x="55847" y="1254992"/>
                  </a:lnTo>
                  <a:cubicBezTo>
                    <a:pt x="41036" y="1254992"/>
                    <a:pt x="26831" y="1249108"/>
                    <a:pt x="16357" y="1238634"/>
                  </a:cubicBezTo>
                  <a:cubicBezTo>
                    <a:pt x="5884" y="1228161"/>
                    <a:pt x="0" y="1213956"/>
                    <a:pt x="0" y="1199144"/>
                  </a:cubicBezTo>
                  <a:lnTo>
                    <a:pt x="0" y="55847"/>
                  </a:lnTo>
                  <a:cubicBezTo>
                    <a:pt x="0" y="41036"/>
                    <a:pt x="5884" y="26831"/>
                    <a:pt x="16357" y="16357"/>
                  </a:cubicBezTo>
                  <a:cubicBezTo>
                    <a:pt x="26831" y="5884"/>
                    <a:pt x="41036" y="0"/>
                    <a:pt x="558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31190" cy="1293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766" y="4205833"/>
            <a:ext cx="6861421" cy="4594445"/>
            <a:chOff x="0" y="0"/>
            <a:chExt cx="1874225" cy="12549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74226" cy="1254992"/>
            </a:xfrm>
            <a:custGeom>
              <a:avLst/>
              <a:gdLst/>
              <a:ahLst/>
              <a:cxnLst/>
              <a:rect l="l" t="t" r="r" b="b"/>
              <a:pathLst>
                <a:path w="1874226" h="1254992">
                  <a:moveTo>
                    <a:pt x="57545" y="0"/>
                  </a:moveTo>
                  <a:lnTo>
                    <a:pt x="1816681" y="0"/>
                  </a:lnTo>
                  <a:cubicBezTo>
                    <a:pt x="1848462" y="0"/>
                    <a:pt x="1874226" y="25764"/>
                    <a:pt x="1874226" y="57545"/>
                  </a:cubicBezTo>
                  <a:lnTo>
                    <a:pt x="1874226" y="1197447"/>
                  </a:lnTo>
                  <a:cubicBezTo>
                    <a:pt x="1874226" y="1229228"/>
                    <a:pt x="1848462" y="1254992"/>
                    <a:pt x="1816681" y="1254992"/>
                  </a:cubicBezTo>
                  <a:lnTo>
                    <a:pt x="57545" y="1254992"/>
                  </a:lnTo>
                  <a:cubicBezTo>
                    <a:pt x="25764" y="1254992"/>
                    <a:pt x="0" y="1229228"/>
                    <a:pt x="0" y="1197447"/>
                  </a:cubicBezTo>
                  <a:lnTo>
                    <a:pt x="0" y="57545"/>
                  </a:lnTo>
                  <a:cubicBezTo>
                    <a:pt x="0" y="25764"/>
                    <a:pt x="25764" y="0"/>
                    <a:pt x="5754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74225" cy="1293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1356249" y="-1460774"/>
            <a:ext cx="3197439" cy="3197439"/>
          </a:xfrm>
          <a:custGeom>
            <a:avLst/>
            <a:gdLst/>
            <a:ahLst/>
            <a:cxnLst/>
            <a:rect l="l" t="t" r="r" b="b"/>
            <a:pathLst>
              <a:path w="3197439" h="3197439">
                <a:moveTo>
                  <a:pt x="0" y="0"/>
                </a:moveTo>
                <a:lnTo>
                  <a:pt x="3197439" y="0"/>
                </a:lnTo>
                <a:lnTo>
                  <a:pt x="3197439" y="3197439"/>
                </a:lnTo>
                <a:lnTo>
                  <a:pt x="0" y="3197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025996" y="1605261"/>
            <a:ext cx="2227557" cy="2227557"/>
          </a:xfrm>
          <a:custGeom>
            <a:avLst/>
            <a:gdLst/>
            <a:ahLst/>
            <a:cxnLst/>
            <a:rect l="l" t="t" r="r" b="b"/>
            <a:pathLst>
              <a:path w="2227557" h="2227557">
                <a:moveTo>
                  <a:pt x="0" y="0"/>
                </a:moveTo>
                <a:lnTo>
                  <a:pt x="2227557" y="0"/>
                </a:lnTo>
                <a:lnTo>
                  <a:pt x="2227557" y="2227556"/>
                </a:lnTo>
                <a:lnTo>
                  <a:pt x="0" y="2227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562929" y="4347811"/>
            <a:ext cx="5435066" cy="72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3"/>
              </a:lnSpc>
            </a:pPr>
            <a:r>
              <a:rPr lang="en-US" sz="4123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16308" y="5120889"/>
            <a:ext cx="7354596" cy="345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just">
              <a:lnSpc>
                <a:spcPts val="458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Faster Decision-Making</a:t>
            </a:r>
          </a:p>
          <a:p>
            <a:pPr marL="518157" lvl="1" indent="-259078" algn="just">
              <a:lnSpc>
                <a:spcPts val="458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 Saving</a:t>
            </a:r>
          </a:p>
          <a:p>
            <a:pPr marL="518157" lvl="1" indent="-259078" algn="just">
              <a:lnSpc>
                <a:spcPts val="458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Better Reporting</a:t>
            </a:r>
          </a:p>
          <a:p>
            <a:pPr marL="518157" lvl="1" indent="-259078" algn="just">
              <a:lnSpc>
                <a:spcPts val="458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Insights</a:t>
            </a:r>
          </a:p>
          <a:p>
            <a:pPr marL="518157" lvl="1" indent="-259078" algn="just">
              <a:lnSpc>
                <a:spcPts val="458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Improved Efficiency</a:t>
            </a:r>
          </a:p>
          <a:p>
            <a:pPr algn="just">
              <a:lnSpc>
                <a:spcPts val="4583"/>
              </a:lnSpc>
            </a:pPr>
            <a:endParaRPr lang="en-US" sz="23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62476" y="5117460"/>
            <a:ext cx="7354596" cy="345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63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Data Integration</a:t>
            </a:r>
          </a:p>
          <a:p>
            <a:pPr marL="518157" lvl="1" indent="-259078" algn="l">
              <a:lnSpc>
                <a:spcPts val="463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AI-Based Prediction</a:t>
            </a:r>
          </a:p>
          <a:p>
            <a:pPr marL="518157" lvl="1" indent="-259078" algn="l">
              <a:lnSpc>
                <a:spcPts val="463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 Deployment</a:t>
            </a:r>
          </a:p>
          <a:p>
            <a:pPr marL="518157" lvl="1" indent="-259078" algn="l">
              <a:lnSpc>
                <a:spcPts val="463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Dashboard</a:t>
            </a:r>
          </a:p>
          <a:p>
            <a:pPr marL="518157" lvl="1" indent="-259078" algn="l">
              <a:lnSpc>
                <a:spcPts val="463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Analytics</a:t>
            </a:r>
          </a:p>
          <a:p>
            <a:pPr algn="l">
              <a:lnSpc>
                <a:spcPts val="4631"/>
              </a:lnSpc>
            </a:pPr>
            <a:endParaRPr lang="en-US" sz="23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41190" y="4347811"/>
            <a:ext cx="5435066" cy="72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3"/>
              </a:lnSpc>
            </a:pPr>
            <a:r>
              <a:rPr lang="en-US" sz="4123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PROJECT 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1767" y="2078822"/>
            <a:ext cx="7752233" cy="112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1"/>
              </a:lnSpc>
            </a:pPr>
            <a:r>
              <a:rPr lang="en-US" sz="6423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KEY FINDINGS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056" y="1912388"/>
            <a:ext cx="8503466" cy="147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54"/>
              </a:lnSpc>
            </a:pPr>
            <a:r>
              <a:rPr lang="en-US" sz="8322" b="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36002" y="-115858"/>
            <a:ext cx="7075170" cy="8690090"/>
            <a:chOff x="0" y="0"/>
            <a:chExt cx="1096129" cy="13463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6129" cy="1346322"/>
            </a:xfrm>
            <a:custGeom>
              <a:avLst/>
              <a:gdLst/>
              <a:ahLst/>
              <a:cxnLst/>
              <a:rect l="l" t="t" r="r" b="b"/>
              <a:pathLst>
                <a:path w="1096129" h="1346322">
                  <a:moveTo>
                    <a:pt x="0" y="0"/>
                  </a:moveTo>
                  <a:lnTo>
                    <a:pt x="1096129" y="0"/>
                  </a:lnTo>
                  <a:lnTo>
                    <a:pt x="1096129" y="1346322"/>
                  </a:lnTo>
                  <a:lnTo>
                    <a:pt x="0" y="1346322"/>
                  </a:lnTo>
                  <a:close/>
                </a:path>
              </a:pathLst>
            </a:custGeom>
            <a:blipFill>
              <a:blip r:embed="rId2"/>
              <a:stretch>
                <a:fillRect l="-65459" r="-2063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764335" y="3430092"/>
            <a:ext cx="8884794" cy="3464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476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Successfully developed an interactive Power BI dashboard.</a:t>
            </a:r>
          </a:p>
          <a:p>
            <a:pPr marL="431801" lvl="1" indent="-215900" algn="just">
              <a:lnSpc>
                <a:spcPts val="476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Converted raw hospital data into meaningful insights.</a:t>
            </a:r>
          </a:p>
          <a:p>
            <a:pPr marL="431801" lvl="1" indent="-215900" algn="just">
              <a:lnSpc>
                <a:spcPts val="476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Improved reporting and decision-making.</a:t>
            </a:r>
          </a:p>
          <a:p>
            <a:pPr marL="431801" lvl="1" indent="-215900" algn="just">
              <a:lnSpc>
                <a:spcPts val="476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Reduced manual analysis and increased efficiency.</a:t>
            </a:r>
          </a:p>
          <a:p>
            <a:pPr marL="431801" lvl="1" indent="-215900" algn="just">
              <a:lnSpc>
                <a:spcPts val="476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Demonstrated the value of data analytics in healthcare.</a:t>
            </a:r>
          </a:p>
          <a:p>
            <a:pPr algn="just">
              <a:lnSpc>
                <a:spcPts val="3380"/>
              </a:lnSpc>
            </a:pPr>
            <a:endParaRPr lang="en-US" sz="2000" b="1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376130" y="8574231"/>
            <a:ext cx="19378957" cy="1712769"/>
            <a:chOff x="0" y="0"/>
            <a:chExt cx="5293442" cy="467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93442" cy="467850"/>
            </a:xfrm>
            <a:custGeom>
              <a:avLst/>
              <a:gdLst/>
              <a:ahLst/>
              <a:cxnLst/>
              <a:rect l="l" t="t" r="r" b="b"/>
              <a:pathLst>
                <a:path w="5293442" h="467850">
                  <a:moveTo>
                    <a:pt x="20375" y="0"/>
                  </a:moveTo>
                  <a:lnTo>
                    <a:pt x="5273067" y="0"/>
                  </a:lnTo>
                  <a:cubicBezTo>
                    <a:pt x="5284320" y="0"/>
                    <a:pt x="5293442" y="9122"/>
                    <a:pt x="5293442" y="20375"/>
                  </a:cubicBezTo>
                  <a:lnTo>
                    <a:pt x="5293442" y="447475"/>
                  </a:lnTo>
                  <a:cubicBezTo>
                    <a:pt x="5293442" y="452879"/>
                    <a:pt x="5291295" y="458061"/>
                    <a:pt x="5287474" y="461882"/>
                  </a:cubicBezTo>
                  <a:cubicBezTo>
                    <a:pt x="5283653" y="465703"/>
                    <a:pt x="5278471" y="467850"/>
                    <a:pt x="5273067" y="467850"/>
                  </a:cubicBezTo>
                  <a:lnTo>
                    <a:pt x="20375" y="467850"/>
                  </a:lnTo>
                  <a:cubicBezTo>
                    <a:pt x="9122" y="467850"/>
                    <a:pt x="0" y="458728"/>
                    <a:pt x="0" y="447475"/>
                  </a:cubicBezTo>
                  <a:lnTo>
                    <a:pt x="0" y="20375"/>
                  </a:lnTo>
                  <a:cubicBezTo>
                    <a:pt x="0" y="9122"/>
                    <a:pt x="9122" y="0"/>
                    <a:pt x="2037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293442" cy="50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689281" y="0"/>
            <a:ext cx="3197439" cy="3197439"/>
          </a:xfrm>
          <a:custGeom>
            <a:avLst/>
            <a:gdLst/>
            <a:ahLst/>
            <a:cxnLst/>
            <a:rect l="l" t="t" r="r" b="b"/>
            <a:pathLst>
              <a:path w="3197439" h="3197439">
                <a:moveTo>
                  <a:pt x="0" y="0"/>
                </a:moveTo>
                <a:lnTo>
                  <a:pt x="3197438" y="0"/>
                </a:lnTo>
                <a:lnTo>
                  <a:pt x="3197438" y="3197439"/>
                </a:lnTo>
                <a:lnTo>
                  <a:pt x="0" y="3197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433103" y="7457187"/>
            <a:ext cx="3197439" cy="3197439"/>
          </a:xfrm>
          <a:custGeom>
            <a:avLst/>
            <a:gdLst/>
            <a:ahLst/>
            <a:cxnLst/>
            <a:rect l="l" t="t" r="r" b="b"/>
            <a:pathLst>
              <a:path w="3197439" h="3197439">
                <a:moveTo>
                  <a:pt x="0" y="0"/>
                </a:moveTo>
                <a:lnTo>
                  <a:pt x="3197438" y="0"/>
                </a:lnTo>
                <a:lnTo>
                  <a:pt x="3197438" y="3197439"/>
                </a:lnTo>
                <a:lnTo>
                  <a:pt x="0" y="3197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91540" y="2121938"/>
            <a:ext cx="953963" cy="953963"/>
          </a:xfrm>
          <a:custGeom>
            <a:avLst/>
            <a:gdLst/>
            <a:ahLst/>
            <a:cxnLst/>
            <a:rect l="l" t="t" r="r" b="b"/>
            <a:pathLst>
              <a:path w="953963" h="953963">
                <a:moveTo>
                  <a:pt x="0" y="0"/>
                </a:moveTo>
                <a:lnTo>
                  <a:pt x="953963" y="0"/>
                </a:lnTo>
                <a:lnTo>
                  <a:pt x="953963" y="953963"/>
                </a:lnTo>
                <a:lnTo>
                  <a:pt x="0" y="953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0337" y="5444732"/>
            <a:ext cx="5299218" cy="717318"/>
            <a:chOff x="0" y="0"/>
            <a:chExt cx="1395679" cy="18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5679" cy="188923"/>
            </a:xfrm>
            <a:custGeom>
              <a:avLst/>
              <a:gdLst/>
              <a:ahLst/>
              <a:cxnLst/>
              <a:rect l="l" t="t" r="r" b="b"/>
              <a:pathLst>
                <a:path w="1395679" h="188923">
                  <a:moveTo>
                    <a:pt x="74509" y="0"/>
                  </a:moveTo>
                  <a:lnTo>
                    <a:pt x="1321170" y="0"/>
                  </a:lnTo>
                  <a:cubicBezTo>
                    <a:pt x="1340931" y="0"/>
                    <a:pt x="1359883" y="7850"/>
                    <a:pt x="1373856" y="21823"/>
                  </a:cubicBezTo>
                  <a:cubicBezTo>
                    <a:pt x="1387829" y="35796"/>
                    <a:pt x="1395679" y="54748"/>
                    <a:pt x="1395679" y="74509"/>
                  </a:cubicBezTo>
                  <a:lnTo>
                    <a:pt x="1395679" y="114415"/>
                  </a:lnTo>
                  <a:cubicBezTo>
                    <a:pt x="1395679" y="134176"/>
                    <a:pt x="1387829" y="153127"/>
                    <a:pt x="1373856" y="167100"/>
                  </a:cubicBezTo>
                  <a:cubicBezTo>
                    <a:pt x="1359883" y="181073"/>
                    <a:pt x="1340931" y="188923"/>
                    <a:pt x="1321170" y="188923"/>
                  </a:cubicBezTo>
                  <a:lnTo>
                    <a:pt x="74509" y="188923"/>
                  </a:lnTo>
                  <a:cubicBezTo>
                    <a:pt x="54748" y="188923"/>
                    <a:pt x="35796" y="181073"/>
                    <a:pt x="21823" y="167100"/>
                  </a:cubicBezTo>
                  <a:cubicBezTo>
                    <a:pt x="7850" y="153127"/>
                    <a:pt x="0" y="134176"/>
                    <a:pt x="0" y="114415"/>
                  </a:cubicBezTo>
                  <a:lnTo>
                    <a:pt x="0" y="74509"/>
                  </a:lnTo>
                  <a:cubicBezTo>
                    <a:pt x="0" y="54748"/>
                    <a:pt x="7850" y="35796"/>
                    <a:pt x="21823" y="21823"/>
                  </a:cubicBezTo>
                  <a:cubicBezTo>
                    <a:pt x="35796" y="7850"/>
                    <a:pt x="54748" y="0"/>
                    <a:pt x="745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5679" cy="227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i="1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Questions &amp; Answers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-603954" y="-572433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64447" y="9258300"/>
            <a:ext cx="2111133" cy="2111133"/>
          </a:xfrm>
          <a:custGeom>
            <a:avLst/>
            <a:gdLst/>
            <a:ahLst/>
            <a:cxnLst/>
            <a:rect l="l" t="t" r="r" b="b"/>
            <a:pathLst>
              <a:path w="2111133" h="2111133">
                <a:moveTo>
                  <a:pt x="0" y="0"/>
                </a:moveTo>
                <a:lnTo>
                  <a:pt x="2111133" y="0"/>
                </a:lnTo>
                <a:lnTo>
                  <a:pt x="2111133" y="2111133"/>
                </a:lnTo>
                <a:lnTo>
                  <a:pt x="0" y="211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94388" y="3421756"/>
            <a:ext cx="9099223" cy="162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00"/>
              </a:lnSpc>
            </a:pPr>
            <a:r>
              <a:rPr lang="en-US" sz="10948">
                <a:solidFill>
                  <a:srgbClr val="F9F6FF"/>
                </a:solidFill>
                <a:latin typeface="Rubik Dirt"/>
                <a:ea typeface="Rubik Dirt"/>
                <a:cs typeface="Rubik Dirt"/>
                <a:sym typeface="Rubik Dirt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4560" y="9569682"/>
            <a:ext cx="13718172" cy="717318"/>
            <a:chOff x="0" y="0"/>
            <a:chExt cx="3613016" cy="18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13017" cy="188923"/>
            </a:xfrm>
            <a:custGeom>
              <a:avLst/>
              <a:gdLst/>
              <a:ahLst/>
              <a:cxnLst/>
              <a:rect l="l" t="t" r="r" b="b"/>
              <a:pathLst>
                <a:path w="3613017" h="188923">
                  <a:moveTo>
                    <a:pt x="28782" y="0"/>
                  </a:moveTo>
                  <a:lnTo>
                    <a:pt x="3584235" y="0"/>
                  </a:lnTo>
                  <a:cubicBezTo>
                    <a:pt x="3600131" y="0"/>
                    <a:pt x="3613017" y="12886"/>
                    <a:pt x="3613017" y="28782"/>
                  </a:cubicBezTo>
                  <a:lnTo>
                    <a:pt x="3613017" y="160141"/>
                  </a:lnTo>
                  <a:cubicBezTo>
                    <a:pt x="3613017" y="167775"/>
                    <a:pt x="3609984" y="175096"/>
                    <a:pt x="3604587" y="180493"/>
                  </a:cubicBezTo>
                  <a:cubicBezTo>
                    <a:pt x="3599189" y="185891"/>
                    <a:pt x="3591868" y="188923"/>
                    <a:pt x="3584235" y="188923"/>
                  </a:cubicBezTo>
                  <a:lnTo>
                    <a:pt x="28782" y="188923"/>
                  </a:lnTo>
                  <a:cubicBezTo>
                    <a:pt x="12886" y="188923"/>
                    <a:pt x="0" y="176037"/>
                    <a:pt x="0" y="160141"/>
                  </a:cubicBezTo>
                  <a:lnTo>
                    <a:pt x="0" y="28782"/>
                  </a:lnTo>
                  <a:cubicBezTo>
                    <a:pt x="0" y="12886"/>
                    <a:pt x="12886" y="0"/>
                    <a:pt x="287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613016" cy="227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GitHub Link: </a:t>
              </a:r>
              <a:r>
                <a:rPr lang="en-US" sz="2199" i="1" u="sng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  <a:hlinkClick r:id="rId3" tooltip="https://github.com/jenifersjeni568-star/Hospital-Management-Analysis/tree/main"/>
                </a:rPr>
                <a:t>https://github.com/jenifersjeni568-star/Hospital-Management-Analysis/tree/main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413</Words>
  <Application>Microsoft Office PowerPoint</Application>
  <PresentationFormat>Custom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Poppins Bold Italics</vt:lpstr>
      <vt:lpstr>Calibri</vt:lpstr>
      <vt:lpstr>Poppins</vt:lpstr>
      <vt:lpstr>Poppins Medium</vt:lpstr>
      <vt:lpstr>Poppins Bold</vt:lpstr>
      <vt:lpstr>Rubik Dirt</vt:lpstr>
      <vt:lpstr>Canva Sans Bold</vt:lpstr>
      <vt:lpstr>Agrandir</vt:lpstr>
      <vt:lpstr>Agrandir Bold</vt:lpstr>
      <vt:lpstr>Agrandir Medium</vt:lpstr>
      <vt:lpstr>Poppins Italics</vt:lpstr>
      <vt:lpstr>Canva Sans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_Management_Analysis</dc:title>
  <cp:lastModifiedBy>jenifer sathya</cp:lastModifiedBy>
  <cp:revision>2</cp:revision>
  <dcterms:created xsi:type="dcterms:W3CDTF">2006-08-16T00:00:00Z</dcterms:created>
  <dcterms:modified xsi:type="dcterms:W3CDTF">2026-07-31T10:22:52Z</dcterms:modified>
  <dc:identifier>DAHQ3cgltcU</dc:identifier>
</cp:coreProperties>
</file>